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005840"/>
            <a:ext cx="2926080" cy="384048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8191E"/>
                </a:solidFill>
                <a:latin typeface="Arial"/>
              </a:defRPr>
            </a:pPr>
            <a:r>
              <a:t>✨ AI CAREER NAVIGATOR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8191E"/>
                </a:solidFill>
                <a:latin typeface="Arial"/>
              </a:defRPr>
            </a:pPr>
            <a:r>
              <a:t>PathPilot AI</a:t>
            </a:r>
          </a:p>
          <a:p>
            <a:pPr>
              <a:defRPr sz="2200" b="1">
                <a:solidFill>
                  <a:srgbClr val="FF5B37"/>
                </a:solidFill>
                <a:latin typeface="Arial"/>
              </a:defRPr>
            </a:pPr>
            <a:r>
              <a:t>Your Personalized AI Career &amp; Skill Navigator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Transforming career confusion into an inspiring, step-by-step learning journey with zero guesswork.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931920"/>
            <a:ext cx="9784080" cy="1645920"/>
          </a:xfrm>
          <a:prstGeom prst="round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0690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233"/>
                </a:solidFill>
              </a:defRPr>
            </a:pPr>
            <a:r>
              <a:t>FOUNDED &amp; ENGINEERED BY TEAM PATHPILOT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👩‍💻 Sobia Sattar (AI Systems Lead)   •   👨‍💻 Muhammad Hassan (Data Systems Lead)   •   👩‍🎨 Sumera Shar (Creative Product Lead)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Featuring Pip the Cute Multilingual Buddy  |  Built with Python 3.14, FastAPI, React &amp; Vite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868680"/>
            <a:ext cx="2926080" cy="384048"/>
          </a:xfrm>
          <a:prstGeom prst="roundRect">
            <a:avLst/>
          </a:prstGeom>
          <a:solidFill>
            <a:srgbClr val="E0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8191E"/>
                </a:solidFill>
                <a:latin typeface="Arial"/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91E"/>
                </a:solidFill>
              </a:defRPr>
            </a:pPr>
            <a:r>
              <a:t>Why Do Tech Careers Feel So Overwhelming?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194560"/>
            <a:ext cx="3154680" cy="347472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2788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8191E"/>
                </a:solidFill>
              </a:defRPr>
            </a:pPr>
            <a:r>
              <a:t>PROBLEM 01</a:t>
            </a:r>
          </a:p>
          <a:p>
            <a:pPr>
              <a:defRPr sz="1700" b="1">
                <a:solidFill>
                  <a:srgbClr val="18191E"/>
                </a:solidFill>
              </a:defRPr>
            </a:pPr>
            <a:r>
              <a:t>Confusing Job Requirements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Entry-level jobs asking for 5+ years of experience and 20 different technologies. Students don't know what's actually required vs optional.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2194560"/>
            <a:ext cx="3154680" cy="3474720"/>
          </a:xfrm>
          <a:prstGeom prst="roundRect">
            <a:avLst/>
          </a:prstGeom>
          <a:solidFill>
            <a:srgbClr val="E0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377440"/>
            <a:ext cx="2788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8191E"/>
                </a:solidFill>
              </a:defRPr>
            </a:pPr>
            <a:r>
              <a:t>PROBLEM 02</a:t>
            </a:r>
          </a:p>
          <a:p>
            <a:pPr>
              <a:defRPr sz="1700" b="1">
                <a:solidFill>
                  <a:srgbClr val="18191E"/>
                </a:solidFill>
              </a:defRPr>
            </a:pPr>
            <a:r>
              <a:t>No Personalized Direction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Online courses and advice are generic. Students waste hundreds of hours studying random tutorials without knowing their actual competency gaps.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08976" y="2194560"/>
            <a:ext cx="3154680" cy="3474720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1856" y="2377440"/>
            <a:ext cx="2788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8191E"/>
                </a:solidFill>
              </a:defRPr>
            </a:pPr>
            <a:r>
              <a:t>PROBLEM 03</a:t>
            </a:r>
          </a:p>
          <a:p>
            <a:pPr>
              <a:defRPr sz="1700" b="1">
                <a:solidFill>
                  <a:srgbClr val="18191E"/>
                </a:solidFill>
              </a:defRPr>
            </a:pPr>
            <a:r>
              <a:t>Robotic &amp; Cold Guidance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Existing tools produce intimidating, clinical compliance reports that discourage learners instead of providing positive, actionable steps.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868680"/>
            <a:ext cx="2926080" cy="384048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8191E"/>
                </a:solidFill>
                <a:latin typeface="Arial"/>
              </a:defRPr>
            </a:pPr>
            <a: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91E"/>
                </a:solidFill>
              </a:defRPr>
            </a:pPr>
            <a:r>
              <a:t>PathPilot AI: A Friendly, Honest Career Companion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194560"/>
            <a:ext cx="4754880" cy="164592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91E"/>
                </a:solidFill>
              </a:defRPr>
            </a:pPr>
            <a:r>
              <a:t>🎯  Accurate Skill Scanner</a:t>
            </a:r>
          </a:p>
          <a:p>
            <a:pPr>
              <a:defRPr sz="1150">
                <a:solidFill>
                  <a:srgbClr val="18191E"/>
                </a:solidFill>
              </a:defRPr>
            </a:pPr>
            <a:r>
              <a:t>Extracts real skills from your resume with PyMuPDF. Zero fabricated data with 100% student confirmation control.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4754880" cy="1645920"/>
          </a:xfrm>
          <a:prstGeom prst="roundRect">
            <a:avLst/>
          </a:prstGeom>
          <a:solidFill>
            <a:srgbClr val="E0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91E"/>
                </a:solidFill>
              </a:defRPr>
            </a:pPr>
            <a:r>
              <a:t>📊  Interactive Growth Map</a:t>
            </a:r>
          </a:p>
          <a:p>
            <a:pPr>
              <a:defRPr sz="1150">
                <a:solidFill>
                  <a:srgbClr val="18191E"/>
                </a:solidFill>
              </a:defRPr>
            </a:pPr>
            <a:r>
              <a:t>Visualizes your level (0 to 4) against industry standards. 1-click level adjustments make updating effortless.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4023360"/>
            <a:ext cx="4754880" cy="1645920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1605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91E"/>
                </a:solidFill>
              </a:defRPr>
            </a:pPr>
            <a:r>
              <a:t>🗺️  Dynamic 4-Phase Roadmap</a:t>
            </a:r>
          </a:p>
          <a:p>
            <a:pPr>
              <a:defRPr sz="1150">
                <a:solidFill>
                  <a:srgbClr val="18191E"/>
                </a:solidFill>
              </a:defRPr>
            </a:pPr>
            <a:r>
              <a:t>Video lectures, milestone projects, and live code sandbox practice calibrated to your weekly study hours.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4754880" cy="164592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1605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91E"/>
                </a:solidFill>
              </a:defRPr>
            </a:pPr>
            <a:r>
              <a:t>🦊  Pip: Multilingual AI Buddy</a:t>
            </a:r>
          </a:p>
          <a:p>
            <a:pPr>
              <a:defRPr sz="1150">
                <a:solidFill>
                  <a:srgbClr val="18191E"/>
                </a:solidFill>
              </a:defRPr>
            </a:pPr>
            <a:r>
              <a:t>A cute mascot ready 24/7 to answer questions and explain concepts in English, Urdu (اردو), or Roman Urdu.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868680"/>
            <a:ext cx="2926080" cy="384048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8191E"/>
                </a:solidFill>
                <a:latin typeface="Arial"/>
              </a:defRPr>
            </a:pPr>
            <a:r>
              <a:t>TEAM PATHPILOT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91E"/>
                </a:solidFill>
              </a:defRPr>
            </a:pPr>
            <a:r>
              <a:t>Meet the Creators: Crafted with Passion &amp; Purpose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194560"/>
            <a:ext cx="3154680" cy="356616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191E"/>
                </a:solidFill>
              </a:defRPr>
            </a:pPr>
            <a:r>
              <a:t>👩‍💻 Sobia Sattar</a:t>
            </a:r>
          </a:p>
          <a:p>
            <a:pPr>
              <a:defRPr sz="1100" b="1">
                <a:solidFill>
                  <a:srgbClr val="18191E"/>
                </a:solidFill>
              </a:defRPr>
            </a:pPr>
            <a:r>
              <a:t>Co-Founder &amp; AI Systems Lead</a:t>
            </a:r>
          </a:p>
          <a:p>
            <a:pPr>
              <a:defRPr sz="1050" b="1">
                <a:solidFill>
                  <a:srgbClr val="FF5B37"/>
                </a:solidFill>
              </a:defRPr>
            </a:pPr>
            <a:r>
              <a:t>✨ Superpower: Strategic Vision &amp; AI Empathy</a:t>
            </a:r>
          </a:p>
          <a:p>
            <a:br/>
            <a:pPr>
              <a:defRPr sz="1100">
                <a:solidFill>
                  <a:srgbClr val="18191E"/>
                </a:solidFill>
              </a:defRPr>
            </a:pPr>
            <a:r>
              <a:t>"Passionate about demystifying career growth. Sobia envisioned PathPilot as an intelligent, empathetic compass that translates confusing market requirements into confident next steps."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2194560"/>
            <a:ext cx="3154680" cy="3566160"/>
          </a:xfrm>
          <a:prstGeom prst="roundRect">
            <a:avLst/>
          </a:prstGeom>
          <a:solidFill>
            <a:srgbClr val="E0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3317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191E"/>
                </a:solidFill>
              </a:defRPr>
            </a:pPr>
            <a:r>
              <a:t>👨‍💻 Muhammad Hassan</a:t>
            </a:r>
          </a:p>
          <a:p>
            <a:pPr>
              <a:defRPr sz="1100" b="1">
                <a:solidFill>
                  <a:srgbClr val="18191E"/>
                </a:solidFill>
              </a:defRPr>
            </a:pPr>
            <a:r>
              <a:t>Co-Founder &amp; Data Intelligence Lead</a:t>
            </a:r>
          </a:p>
          <a:p>
            <a:pPr>
              <a:defRPr sz="1050" b="1">
                <a:solidFill>
                  <a:srgbClr val="FF5B37"/>
                </a:solidFill>
              </a:defRPr>
            </a:pPr>
            <a:r>
              <a:t>✨ Superpower: Deep Systems Logic &amp; Analytical Truth</a:t>
            </a:r>
          </a:p>
          <a:p>
            <a:br/>
            <a:pPr>
              <a:defRPr sz="1100">
                <a:solidFill>
                  <a:srgbClr val="18191E"/>
                </a:solidFill>
              </a:defRPr>
            </a:pPr>
            <a:r>
              <a:t>"An analytical problem solver driven to eliminate guesswork. Hassan built the data engines and deterministic roadmap generators that ensure every metric is explainable and rock-solid."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08976" y="2194560"/>
            <a:ext cx="3154680" cy="3566160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1856" y="23317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191E"/>
                </a:solidFill>
              </a:defRPr>
            </a:pPr>
            <a:r>
              <a:t>👩‍🎨 Sumera Shar</a:t>
            </a:r>
          </a:p>
          <a:p>
            <a:pPr>
              <a:defRPr sz="1100" b="1">
                <a:solidFill>
                  <a:srgbClr val="18191E"/>
                </a:solidFill>
              </a:defRPr>
            </a:pPr>
            <a:r>
              <a:t>Co-Founder &amp; Creative Product Lead</a:t>
            </a:r>
          </a:p>
          <a:p>
            <a:pPr>
              <a:defRPr sz="1050" b="1">
                <a:solidFill>
                  <a:srgbClr val="FF5B37"/>
                </a:solidFill>
              </a:defRPr>
            </a:pPr>
            <a:r>
              <a:t>✨ Superpower: Creative Intuition &amp; Delightful UX</a:t>
            </a:r>
          </a:p>
          <a:p>
            <a:br/>
            <a:pPr>
              <a:defRPr sz="1100">
                <a:solidFill>
                  <a:srgbClr val="18191E"/>
                </a:solidFill>
              </a:defRPr>
            </a:pPr>
            <a:r>
              <a:t>"Believes learning tools should spark joy. Sumera crafted the signature Ronas IT pastel design system, Pip the cute mascot, and fluid animations that make planning feel playful."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868680"/>
            <a:ext cx="2926080" cy="384048"/>
          </a:xfrm>
          <a:prstGeom prst="roundRect">
            <a:avLst/>
          </a:prstGeom>
          <a:solidFill>
            <a:srgbClr val="E0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8191E"/>
                </a:solidFill>
                <a:latin typeface="Arial"/>
              </a:defRPr>
            </a:pPr>
            <a:r>
              <a:t>FEATURE SPOTLIGHT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91E"/>
                </a:solidFill>
              </a:defRPr>
            </a:pPr>
            <a:r>
              <a:t>Resume &amp; Experience Scanner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103120"/>
            <a:ext cx="4663440" cy="365760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191E"/>
                </a:solidFill>
              </a:defRPr>
            </a:pPr>
            <a:r>
              <a:t>How the Scanner Works: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📄 Upload any PDF resume or paste text directly.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🔍 PyMuPDF extracts skills, education, and exact evidence sentences.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⚡ Semantic alias mapping recognizes equivalent skills (e.g., 'React.js' = 'React').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🔒 100% Private: Processed in isolated user sessions with zero external sharing.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03120"/>
            <a:ext cx="4846320" cy="3657600"/>
          </a:xfrm>
          <a:prstGeom prst="round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100% Student Confirmation Layer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✅ No AI Hallucinations: We never invent fake skills you didn't list.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✏️ Easy Adjustments: Add missing skills or adjust proficiency with 1 tap.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📊 Transparent Evidence: Hover over any skill to see the exact sentence from your resume.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🎯 Confidence: Your roadmap is built on verified reality, not guesswork.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868680"/>
            <a:ext cx="2926080" cy="384048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8191E"/>
                </a:solidFill>
                <a:latin typeface="Arial"/>
              </a:defRPr>
            </a:pPr>
            <a:r>
              <a:t>FEATURE SPOTLIGHT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91E"/>
                </a:solidFill>
              </a:defRPr>
            </a:pPr>
            <a:r>
              <a:t>Interactive Skill Compass &amp; Growth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194560"/>
            <a:ext cx="4754880" cy="164592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91E"/>
                </a:solidFill>
              </a:defRPr>
            </a:pPr>
            <a:r>
              <a:t>🎨 Compact Bento Cards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Replaced overwhelming, clinical audit lists with beautiful rounded cards displaying category tags and clean priorities.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4754880" cy="1645920"/>
          </a:xfrm>
          <a:prstGeom prst="roundRect">
            <a:avLst/>
          </a:prstGeom>
          <a:solidFill>
            <a:srgbClr val="E0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91E"/>
                </a:solidFill>
              </a:defRPr>
            </a:pPr>
            <a:r>
              <a:t>📏 Unified 4-Segment Gauge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Clear visual stepper showing your current level vs target level (e.g., Level 0 ➔ Level 3 needed).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4023360"/>
            <a:ext cx="4754880" cy="1645920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1605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91E"/>
                </a:solidFill>
              </a:defRPr>
            </a:pPr>
            <a:r>
              <a:t>⚡ 1-Click Level Setter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Click [0] [1] [2] [3] [4] directly on any skill card to self-calibrate your skills and recalculate readiness instantly.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4754880" cy="164592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1605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91E"/>
                </a:solidFill>
              </a:defRPr>
            </a:pPr>
            <a:r>
              <a:t>💡 Positive Growth Tips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Encouraging, actionable recommendations instead of alarming error warnings or robotic audits.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868680"/>
            <a:ext cx="2926080" cy="384048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8191E"/>
                </a:solidFill>
                <a:latin typeface="Arial"/>
              </a:defRPr>
            </a:pPr>
            <a:r>
              <a:t>FEATURE SPOTLIGHT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91E"/>
                </a:solidFill>
              </a:defRPr>
            </a:pPr>
            <a:r>
              <a:t>Personalized 4-Phase Learning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194560"/>
            <a:ext cx="2331720" cy="164592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28600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8191E"/>
                </a:solidFill>
              </a:defRPr>
            </a:pPr>
            <a:r>
              <a:t>Phase 01</a:t>
            </a:r>
          </a:p>
          <a:p>
            <a:pPr>
              <a:defRPr sz="1400" b="1">
                <a:solidFill>
                  <a:srgbClr val="18191E"/>
                </a:solidFill>
              </a:defRPr>
            </a:pPr>
            <a:r>
              <a:t>Core Foundations</a:t>
            </a:r>
          </a:p>
          <a:p>
            <a:pPr>
              <a:defRPr sz="1000">
                <a:solidFill>
                  <a:srgbClr val="18191E"/>
                </a:solidFill>
              </a:defRPr>
            </a:pPr>
            <a:r>
              <a:t>Master essential languages &amp; syntax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5888" y="2194560"/>
            <a:ext cx="2331720" cy="1645920"/>
          </a:xfrm>
          <a:prstGeom prst="roundRect">
            <a:avLst/>
          </a:prstGeom>
          <a:solidFill>
            <a:srgbClr val="E0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3048" y="228600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8191E"/>
                </a:solidFill>
              </a:defRPr>
            </a:pPr>
            <a:r>
              <a:t>Phase 02</a:t>
            </a:r>
          </a:p>
          <a:p>
            <a:pPr>
              <a:defRPr sz="1400" b="1">
                <a:solidFill>
                  <a:srgbClr val="18191E"/>
                </a:solidFill>
              </a:defRPr>
            </a:pPr>
            <a:r>
              <a:t>Applied Architecture</a:t>
            </a:r>
          </a:p>
          <a:p>
            <a:pPr>
              <a:defRPr sz="1000">
                <a:solidFill>
                  <a:srgbClr val="18191E"/>
                </a:solidFill>
              </a:defRPr>
            </a:pPr>
            <a:r>
              <a:t>Build real data &amp; backend pipelines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2194560"/>
            <a:ext cx="2331720" cy="1645920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228600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8191E"/>
                </a:solidFill>
              </a:defRPr>
            </a:pPr>
            <a:r>
              <a:t>Phase 03</a:t>
            </a:r>
          </a:p>
          <a:p>
            <a:pPr>
              <a:defRPr sz="1400" b="1">
                <a:solidFill>
                  <a:srgbClr val="18191E"/>
                </a:solidFill>
              </a:defRPr>
            </a:pPr>
            <a:r>
              <a:t>Advanced Optimization</a:t>
            </a:r>
          </a:p>
          <a:p>
            <a:pPr>
              <a:defRPr sz="1000">
                <a:solidFill>
                  <a:srgbClr val="18191E"/>
                </a:solidFill>
              </a:defRPr>
            </a:pPr>
            <a:r>
              <a:t>Fine-tuning, scaling &amp; testing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50224" y="2194560"/>
            <a:ext cx="2331720" cy="164592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87384" y="228600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8191E"/>
                </a:solidFill>
              </a:defRPr>
            </a:pPr>
            <a:r>
              <a:t>Phase 04</a:t>
            </a:r>
          </a:p>
          <a:p>
            <a:pPr>
              <a:defRPr sz="1400" b="1">
                <a:solidFill>
                  <a:srgbClr val="18191E"/>
                </a:solidFill>
              </a:defRPr>
            </a:pPr>
            <a:r>
              <a:t>Portfolio Deliverable</a:t>
            </a:r>
          </a:p>
          <a:p>
            <a:pPr>
              <a:defRPr sz="1000">
                <a:solidFill>
                  <a:srgbClr val="18191E"/>
                </a:solidFill>
              </a:defRPr>
            </a:pPr>
            <a:r>
              <a:t>Deploy production project for hiring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4114800"/>
            <a:ext cx="9784080" cy="1645920"/>
          </a:xfrm>
          <a:prstGeom prst="round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25196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D233"/>
                </a:solidFill>
              </a:defRPr>
            </a:pPr>
            <a:r>
              <a:t>BUILT-IN INTERACTIVE WORKSHOP &amp; STUDY INTEGRITY GATES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Real Playable Video Player: High-quality curated lectures with chapter timestamps.</a:t>
            </a:r>
            <a:br/>
            <a:r>
              <a:t>• Live Code Sandbox: Run Python and PyTorch test suites directly in your browser.</a:t>
            </a:r>
            <a:br/>
            <a:r>
              <a:t>• Verification Gate: Prevents accidental completion skips until you actually watch or code!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868680"/>
            <a:ext cx="2926080" cy="384048"/>
          </a:xfrm>
          <a:prstGeom prst="roundRect">
            <a:avLst/>
          </a:prstGeom>
          <a:solidFill>
            <a:srgbClr val="FF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FEATURE SPOTLIGHT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91E"/>
                </a:solidFill>
              </a:defRPr>
            </a:pPr>
            <a:r>
              <a:t>Meet Pip: Your Multilingual AI Career Buddy 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194560"/>
            <a:ext cx="4754880" cy="164592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91E"/>
                </a:solidFill>
              </a:defRPr>
            </a:pPr>
            <a:r>
              <a:t>🐾 Cute Mascot Design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Matches the Ronas IT / Learnify theme with headphone avatar, rosy blush, and sunny-yellow branding. Pops up automatically to greet learners.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4754880" cy="1645920"/>
          </a:xfrm>
          <a:prstGeom prst="roundRect">
            <a:avLst/>
          </a:prstGeom>
          <a:solidFill>
            <a:srgbClr val="E0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91E"/>
                </a:solidFill>
              </a:defRPr>
            </a:pPr>
            <a:r>
              <a:t>🗣️ True Multilingual NLP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Ask questions in English, Urdu (اردو with full RTL script), or Roman Urdu ('Score kaise barhayen?'). Pip responds in the same language naturally.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4023360"/>
            <a:ext cx="4754880" cy="1645920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1605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91E"/>
                </a:solidFill>
              </a:defRPr>
            </a:pPr>
            <a:r>
              <a:t>🧠 High-Precision Answers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Accurately explains complex technical topics: Gradient Descent, Overfitting, Precision vs Recall, SQL Joins, React Virtual DOM, and scoring math.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4754880" cy="164592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1605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91E"/>
                </a:solidFill>
              </a:defRPr>
            </a:pPr>
            <a:r>
              <a:t>💡 24/7 Encouragement</a:t>
            </a:r>
          </a:p>
          <a:p>
            <a:pPr>
              <a:defRPr sz="1200">
                <a:solidFill>
                  <a:srgbClr val="18191E"/>
                </a:solidFill>
              </a:defRPr>
            </a:pPr>
            <a:r>
              <a:t>Tailors advice directly to your target role, readiness score, and current milestone. Offers interview tips and daily motivation.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868680"/>
            <a:ext cx="2926080" cy="384048"/>
          </a:xfrm>
          <a:prstGeom prst="roundRect">
            <a:avLst/>
          </a:prstGeom>
          <a:solidFill>
            <a:srgbClr val="E0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8191E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91E"/>
                </a:solidFill>
              </a:defRPr>
            </a:pPr>
            <a:r>
              <a:t>Modern, Resilient &amp; Scalable Tech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194560"/>
            <a:ext cx="2331720" cy="356616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331720"/>
            <a:ext cx="2057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91E"/>
                </a:solidFill>
              </a:defRPr>
            </a:pPr>
            <a:r>
              <a:t>🎨 Frontend Experience</a:t>
            </a:r>
          </a:p>
          <a:p>
            <a:br/>
            <a:pPr>
              <a:defRPr sz="1200">
                <a:solidFill>
                  <a:srgbClr val="18191E"/>
                </a:solidFill>
              </a:defRPr>
            </a:pPr>
            <a:r>
              <a:t>React 19 &amp; TypeScript</a:t>
            </a:r>
            <a:br/>
            <a:r>
              <a:t>Vite Build Engine (&lt;1s builds)</a:t>
            </a:r>
            <a:br/>
            <a:r>
              <a:t>TailwindCSS v4 Design System</a:t>
            </a:r>
            <a:br/>
            <a:r>
              <a:t>Lucide Icons &amp; Fluid Animations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5888" y="2194560"/>
            <a:ext cx="2331720" cy="3566160"/>
          </a:xfrm>
          <a:prstGeom prst="roundRect">
            <a:avLst/>
          </a:prstGeom>
          <a:solidFill>
            <a:srgbClr val="E0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3048" y="2331720"/>
            <a:ext cx="2057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91E"/>
                </a:solidFill>
              </a:defRPr>
            </a:pPr>
            <a:r>
              <a:t>⚙️ Backend Services</a:t>
            </a:r>
          </a:p>
          <a:p>
            <a:br/>
            <a:pPr>
              <a:defRPr sz="1200">
                <a:solidFill>
                  <a:srgbClr val="18191E"/>
                </a:solidFill>
              </a:defRPr>
            </a:pPr>
            <a:r>
              <a:t>FastAPI Asynchronous API</a:t>
            </a:r>
            <a:br/>
            <a:r>
              <a:t>Python 3.14 High-Speed Runtime</a:t>
            </a:r>
            <a:br/>
            <a:r>
              <a:t>Deterministic Scoring Engines</a:t>
            </a:r>
            <a:br/>
            <a:r>
              <a:t>13/13 Automated Tests Passing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2194560"/>
            <a:ext cx="2331720" cy="3566160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2331720"/>
            <a:ext cx="2057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91E"/>
                </a:solidFill>
              </a:defRPr>
            </a:pPr>
            <a:r>
              <a:t>💾 Data &amp; AI Engines</a:t>
            </a:r>
          </a:p>
          <a:p>
            <a:br/>
            <a:pPr>
              <a:defRPr sz="1200">
                <a:solidFill>
                  <a:srgbClr val="18191E"/>
                </a:solidFill>
              </a:defRPr>
            </a:pPr>
            <a:r>
              <a:t>SQLite Persistent Storage</a:t>
            </a:r>
            <a:br/>
            <a:r>
              <a:t>PyMuPDF Binary Parser</a:t>
            </a:r>
            <a:br/>
            <a:r>
              <a:t>TF-IDF Semantic Alias Matcher</a:t>
            </a:r>
            <a:br/>
            <a:r>
              <a:t>Multi-User Schema Isolation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50224" y="2194560"/>
            <a:ext cx="2331720" cy="356616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87384" y="2331720"/>
            <a:ext cx="2057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91E"/>
                </a:solidFill>
              </a:defRPr>
            </a:pPr>
            <a:r>
              <a:t>🛡️ Security &amp; Privacy</a:t>
            </a:r>
          </a:p>
          <a:p>
            <a:br/>
            <a:pPr>
              <a:defRPr sz="1200">
                <a:solidFill>
                  <a:srgbClr val="18191E"/>
                </a:solidFill>
              </a:defRPr>
            </a:pPr>
            <a:r>
              <a:t>PBKDF2 SHA-256 Salt Hashing</a:t>
            </a:r>
            <a:br/>
            <a:r>
              <a:t>Protected Route Auth Guards</a:t>
            </a:r>
            <a:br/>
            <a:r>
              <a:t>Anti-Bypass Verification Gates</a:t>
            </a:r>
            <a:br/>
            <a:r>
              <a:t>100% Student-First Privacy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005840"/>
            <a:ext cx="2926080" cy="384048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8191E"/>
                </a:solidFill>
                <a:latin typeface="Arial"/>
              </a:defRPr>
            </a:pPr>
            <a:r>
              <a:t>THE ROAD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784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Building Confidence, One Skill at a Time</a:t>
            </a:r>
          </a:p>
          <a:p>
            <a:pPr>
              <a:defRPr sz="1800">
                <a:solidFill>
                  <a:srgbClr val="FFD233"/>
                </a:solidFill>
              </a:defRPr>
            </a:pPr>
            <a:r>
              <a:t>PathPilot replaces career confusion with transparent, joyful, and verifiable growth.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931920"/>
            <a:ext cx="3154680" cy="1737360"/>
          </a:xfrm>
          <a:prstGeom prst="roundRect">
            <a:avLst/>
          </a:prstGeom>
          <a:solidFill>
            <a:srgbClr val="FEE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406908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91E"/>
                </a:solidFill>
              </a:defRPr>
            </a:pPr>
            <a:r>
              <a:t>🌟 Humanized Design</a:t>
            </a:r>
          </a:p>
          <a:p>
            <a:pPr>
              <a:defRPr sz="1150">
                <a:solidFill>
                  <a:srgbClr val="18191E"/>
                </a:solidFill>
              </a:defRPr>
            </a:pPr>
            <a:r>
              <a:t>Ronas IT signature pastel cards, fluid transitions, and lovable Pip mascot.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3931920"/>
            <a:ext cx="3154680" cy="1737360"/>
          </a:xfrm>
          <a:prstGeom prst="roundRect">
            <a:avLst/>
          </a:prstGeom>
          <a:solidFill>
            <a:srgbClr val="E0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406908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91E"/>
                </a:solidFill>
              </a:defRPr>
            </a:pPr>
            <a:r>
              <a:t>🎯 Real-World Value</a:t>
            </a:r>
          </a:p>
          <a:p>
            <a:pPr>
              <a:defRPr sz="1150">
                <a:solidFill>
                  <a:srgbClr val="18191E"/>
                </a:solidFill>
              </a:defRPr>
            </a:pPr>
            <a:r>
              <a:t>Clear pathways to Junior AI/ML, Data Analyst, and Full-Stack roles.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08976" y="3931920"/>
            <a:ext cx="3154680" cy="1737360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46136" y="406908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91E"/>
                </a:solidFill>
              </a:defRPr>
            </a:pPr>
            <a:r>
              <a:t>🚀 Live &amp; Tested</a:t>
            </a:r>
          </a:p>
          <a:p>
            <a:pPr>
              <a:defRPr sz="1150">
                <a:solidFill>
                  <a:srgbClr val="18191E"/>
                </a:solidFill>
              </a:defRPr>
            </a:pPr>
            <a:r>
              <a:t>Fully operational web application running at http://127.0.0.1:5173.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